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76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76162" autoAdjust="0"/>
  </p:normalViewPr>
  <p:slideViewPr>
    <p:cSldViewPr>
      <p:cViewPr varScale="1">
        <p:scale>
          <a:sx n="93" d="100"/>
          <a:sy n="93" d="100"/>
        </p:scale>
        <p:origin x="44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charset="0"/>
              </a:defRPr>
            </a:lvl1pPr>
          </a:lstStyle>
          <a:p>
            <a:pPr>
              <a:defRPr/>
            </a:pPr>
            <a:fld id="{6BAF175B-1D26-4F04-9B81-86414BCC14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551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679B14CF-8C94-4970-899F-7A07CB93C1E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F087110F-9462-438D-AD0A-F21C2183F1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EBD45253-9BD9-4EDF-9FF5-655B903CB34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29B3592F-AD77-4D7C-A81E-D89F19F61DA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8A0DB6AD-EBE1-4488-A29D-121BF6EB7C9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1285E9DC-6AC9-4E3B-989E-566BBF193B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29A4AD72-77A1-4B45-ACEE-2DDFCFBCD0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F9C6EEFA-BB4F-4F6D-99B6-1BB84D01027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36FFC17C-3658-41F0-A10E-491C72C1A42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EA1F2025-95C8-4997-9CD0-83B6A4D10D8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3ABE5662-6A8F-416B-A5FD-124DD7B3254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CC2B94D5-093B-4233-8A46-77425346C65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Arrays and Pointers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WARNING: These </a:t>
            </a:r>
            <a:r>
              <a:rPr lang="en-US" smtClean="0"/>
              <a:t>notes </a:t>
            </a:r>
            <a:r>
              <a:rPr lang="en-US" smtClean="0"/>
              <a:t>are still </a:t>
            </a:r>
            <a:r>
              <a:rPr lang="en-US" dirty="0" smtClean="0"/>
              <a:t>a work in progress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Review array concepts and syntax, including array parameters</a:t>
            </a:r>
          </a:p>
          <a:p>
            <a:pPr eaLnBrk="1" hangingPunct="1"/>
            <a:r>
              <a:rPr lang="en-US" dirty="0" smtClean="0"/>
              <a:t>Introduce pointer arithmetic especially with regard to pointer type</a:t>
            </a:r>
          </a:p>
          <a:p>
            <a:pPr eaLnBrk="1" hangingPunct="1"/>
            <a:r>
              <a:rPr lang="en-US" dirty="0" smtClean="0"/>
              <a:t>Discuss Pointer use cases (e.g., output parameters)</a:t>
            </a:r>
          </a:p>
          <a:p>
            <a:pPr eaLnBrk="1" hangingPunct="1"/>
            <a:r>
              <a:rPr lang="en-US" dirty="0" smtClean="0"/>
              <a:t>Arrays of pointers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Objectives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The computer’s memory is really an array.	</a:t>
            </a:r>
          </a:p>
          <a:p>
            <a:pPr>
              <a:lnSpc>
                <a:spcPct val="90000"/>
              </a:lnSpc>
            </a:pPr>
            <a:r>
              <a:rPr lang="en-US" sz="2800"/>
              <a:t>We call the index of a variable in memory its “Address”</a:t>
            </a:r>
          </a:p>
          <a:p>
            <a:pPr>
              <a:lnSpc>
                <a:spcPct val="90000"/>
              </a:lnSpc>
            </a:pPr>
            <a:r>
              <a:rPr lang="en-US" sz="2800"/>
              <a:t>Everything stored in the memory of the computer is stored in this array and has a specific address: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All variables we declare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All arrays of variables we declare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The program itself is stored in memory</a:t>
            </a:r>
          </a:p>
        </p:txBody>
      </p:sp>
    </p:spTree>
    <p:extLst>
      <p:ext uri="{BB962C8B-B14F-4D97-AF65-F5344CB8AC3E}">
        <p14:creationId xmlns:p14="http://schemas.microsoft.com/office/powerpoint/2010/main" val="1423541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Information is stored in the computers memory as bits.</a:t>
            </a:r>
          </a:p>
          <a:p>
            <a:pPr>
              <a:lnSpc>
                <a:spcPct val="90000"/>
              </a:lnSpc>
            </a:pPr>
            <a:r>
              <a:rPr lang="en-US" sz="2800"/>
              <a:t>As a convenience, we access this information using program variables.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/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i="1"/>
              <a:t>	A Variable is nothing more than a convenient name for a memory location!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 i="1"/>
          </a:p>
          <a:p>
            <a:pPr>
              <a:lnSpc>
                <a:spcPct val="90000"/>
              </a:lnSpc>
            </a:pPr>
            <a:r>
              <a:rPr lang="en-US" sz="2800"/>
              <a:t>We could access the same location using its address.</a:t>
            </a:r>
          </a:p>
        </p:txBody>
      </p:sp>
    </p:spTree>
    <p:extLst>
      <p:ext uri="{BB962C8B-B14F-4D97-AF65-F5344CB8AC3E}">
        <p14:creationId xmlns:p14="http://schemas.microsoft.com/office/powerpoint/2010/main" val="28342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Addresses in C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unary &amp; is the “address of” operator in C</a:t>
            </a:r>
          </a:p>
          <a:p>
            <a:pPr lvl="1"/>
            <a:r>
              <a:rPr lang="en-US" sz="2400" dirty="0"/>
              <a:t>Not to be confused with binary &amp; or binary &amp;&amp;</a:t>
            </a:r>
          </a:p>
          <a:p>
            <a:r>
              <a:rPr lang="en-US" sz="2800" dirty="0"/>
              <a:t>For example:</a:t>
            </a:r>
          </a:p>
          <a:p>
            <a:pPr>
              <a:buFontTx/>
              <a:buNone/>
            </a:pPr>
            <a:r>
              <a:rPr lang="en-US" sz="2400" dirty="0" err="1"/>
              <a:t>int</a:t>
            </a:r>
            <a:r>
              <a:rPr lang="en-US" sz="2400" dirty="0"/>
              <a:t> main(void) {</a:t>
            </a:r>
          </a:p>
          <a:p>
            <a:pPr>
              <a:buFontTx/>
              <a:buNone/>
            </a:pPr>
            <a:r>
              <a:rPr lang="en-US" sz="2400" dirty="0"/>
              <a:t>  </a:t>
            </a:r>
            <a:r>
              <a:rPr lang="en-US" sz="2400" dirty="0" err="1"/>
              <a:t>int</a:t>
            </a:r>
            <a:r>
              <a:rPr lang="en-US" sz="2400" dirty="0"/>
              <a:t> x = 42;</a:t>
            </a:r>
          </a:p>
          <a:p>
            <a:pPr>
              <a:buFontTx/>
              <a:buNone/>
            </a:pPr>
            <a:r>
              <a:rPr lang="en-US" sz="2400" dirty="0"/>
              <a:t>  </a:t>
            </a:r>
            <a:r>
              <a:rPr lang="en-US" sz="2400" dirty="0" err="1"/>
              <a:t>printf</a:t>
            </a:r>
            <a:r>
              <a:rPr lang="en-US" sz="2400" dirty="0"/>
              <a:t>(“x has value %d and address %d\n”, x, &amp;x);</a:t>
            </a:r>
          </a:p>
          <a:p>
            <a:pPr>
              <a:buFontTx/>
              <a:buNone/>
            </a:pPr>
            <a:r>
              <a:rPr lang="en-US" sz="2400" dirty="0"/>
              <a:t>}</a:t>
            </a:r>
          </a:p>
          <a:p>
            <a:pPr>
              <a:buFontTx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1200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Arrays and Addresses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Arrays in C use consecutive memory locations</a:t>
            </a:r>
          </a:p>
          <a:p>
            <a:pPr lvl="1"/>
            <a:r>
              <a:rPr lang="en-US" sz="2400" dirty="0"/>
              <a:t>i.e., &amp;x[</a:t>
            </a:r>
            <a:r>
              <a:rPr lang="en-US" sz="2400" dirty="0" err="1"/>
              <a:t>i</a:t>
            </a:r>
            <a:r>
              <a:rPr lang="en-US" sz="2400" dirty="0"/>
              <a:t>] + 1 == &amp;x[i+1] for any value of </a:t>
            </a:r>
            <a:r>
              <a:rPr lang="en-US" sz="2400" dirty="0" err="1"/>
              <a:t>i</a:t>
            </a:r>
            <a:endParaRPr lang="en-US" sz="2400" dirty="0"/>
          </a:p>
          <a:p>
            <a:r>
              <a:rPr lang="en-US" sz="2400" dirty="0"/>
              <a:t>As a short hand, the name of the array by itself means “address of first element”</a:t>
            </a:r>
          </a:p>
          <a:p>
            <a:pPr lvl="1"/>
            <a:r>
              <a:rPr lang="en-US" sz="2400" dirty="0"/>
              <a:t>i.e., x == &amp;x[0] for any array x</a:t>
            </a:r>
          </a:p>
        </p:txBody>
      </p:sp>
    </p:spTree>
    <p:extLst>
      <p:ext uri="{BB962C8B-B14F-4D97-AF65-F5344CB8AC3E}">
        <p14:creationId xmlns:p14="http://schemas.microsoft.com/office/powerpoint/2010/main" val="412654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Indexing and overflow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800" dirty="0"/>
              <a:t>You can compute the address of non-existent array elements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e.g., for an array x with 10 elements we can write: &amp;x[-2], &amp;x[1000000]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The semantics are pretty obvious: </a:t>
            </a:r>
          </a:p>
          <a:p>
            <a:pPr lvl="2">
              <a:lnSpc>
                <a:spcPct val="80000"/>
              </a:lnSpc>
            </a:pPr>
            <a:r>
              <a:rPr lang="en-US" sz="2000" dirty="0"/>
              <a:t>&amp;x[k] == &amp;x[0] + k (for any k, positive or negative</a:t>
            </a:r>
            <a:r>
              <a:rPr lang="en-US" sz="2000" dirty="0" smtClean="0"/>
              <a:t>)</a:t>
            </a:r>
          </a:p>
          <a:p>
            <a:pPr marL="914400" lvl="2" indent="0">
              <a:lnSpc>
                <a:spcPct val="80000"/>
              </a:lnSpc>
              <a:buNone/>
            </a:pPr>
            <a:endParaRPr lang="en-US" sz="2000" dirty="0"/>
          </a:p>
          <a:p>
            <a:pPr>
              <a:lnSpc>
                <a:spcPct val="80000"/>
              </a:lnSpc>
            </a:pPr>
            <a:r>
              <a:rPr lang="en-US" sz="2800" dirty="0"/>
              <a:t>In C, the programmer is (almost) always assumed to know what he/she is doing.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The compiler does not try to stop you from accessing any of these non-existent array elements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The OS </a:t>
            </a:r>
            <a:r>
              <a:rPr lang="en-US" sz="2400" b="1" dirty="0"/>
              <a:t>may</a:t>
            </a:r>
            <a:r>
              <a:rPr lang="en-US" sz="2400" dirty="0"/>
              <a:t> stop you from accessing certain memory locations</a:t>
            </a:r>
          </a:p>
        </p:txBody>
      </p:sp>
    </p:spTree>
    <p:extLst>
      <p:ext uri="{BB962C8B-B14F-4D97-AF65-F5344CB8AC3E}">
        <p14:creationId xmlns:p14="http://schemas.microsoft.com/office/powerpoint/2010/main" val="2153303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Overflow example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x[10</a:t>
            </a:r>
            <a:r>
              <a:rPr lang="en-US" sz="1800" dirty="0" smtClean="0">
                <a:latin typeface="Courier New" pitchFamily="49" charset="0"/>
              </a:rPr>
              <a:t>] = { 1, 2, 3 4, 5, 6, 7, 8, 9, 10 };</a:t>
            </a:r>
            <a:endParaRPr lang="en-US" sz="1800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y = </a:t>
            </a:r>
            <a:r>
              <a:rPr lang="en-US" sz="1800" dirty="0" smtClean="0">
                <a:latin typeface="Courier New" pitchFamily="49" charset="0"/>
              </a:rPr>
              <a:t>11;</a:t>
            </a:r>
            <a:endParaRPr lang="en-US" sz="1800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z = </a:t>
            </a:r>
            <a:r>
              <a:rPr lang="en-US" sz="1800" dirty="0" smtClean="0">
                <a:latin typeface="Courier New" pitchFamily="49" charset="0"/>
              </a:rPr>
              <a:t>12;</a:t>
            </a:r>
            <a:endParaRPr lang="en-US" sz="1800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main(void)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x[10] = 42;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x[11] = 17;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printf</a:t>
            </a:r>
            <a:r>
              <a:rPr lang="en-US" sz="1800" dirty="0">
                <a:latin typeface="Courier New" pitchFamily="49" charset="0"/>
              </a:rPr>
              <a:t>("y is %d and z is %d\n", y, z);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&amp;x[10] is likely to be the same as &amp;y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Hence, “x[10] = 42;” is the same as “y = 42;”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Similarly, “x[11] = 17;” is the same as “z = 17;”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 say “likely” because different compilers may choose different memory locations for x[], y and z</a:t>
            </a:r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49949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Arrays, Addresses and Paramters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You cannot actually have an array as a parameter</a:t>
            </a:r>
          </a:p>
          <a:p>
            <a:pPr lvl="1"/>
            <a:r>
              <a:rPr lang="en-US" sz="2400" dirty="0"/>
              <a:t>The C syntax is intentionally  misleading to make you think you can have arrays as parameters</a:t>
            </a:r>
          </a:p>
          <a:p>
            <a:r>
              <a:rPr lang="en-US" sz="2400" dirty="0"/>
              <a:t>The actual parameter is a pointer</a:t>
            </a:r>
          </a:p>
          <a:p>
            <a:r>
              <a:rPr lang="en-US" sz="2400" dirty="0"/>
              <a:t>The argument must be an address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5149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array params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int doit(int x[])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sz="2800"/>
              <a:t>Example 1: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int main(void)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  int a[10];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  doit(a);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}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The initial value of x will be the same as a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i.e., the address of the first element in x will be the same as the address of the first element in a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In practice, this means that x is the same array as a.</a:t>
            </a:r>
          </a:p>
        </p:txBody>
      </p:sp>
    </p:spTree>
    <p:extLst>
      <p:ext uri="{BB962C8B-B14F-4D97-AF65-F5344CB8AC3E}">
        <p14:creationId xmlns:p14="http://schemas.microsoft.com/office/powerpoint/2010/main" val="393585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 err="1">
                <a:latin typeface="Courier New" pitchFamily="49" charset="0"/>
              </a:rPr>
              <a:t>int</a:t>
            </a:r>
            <a:r>
              <a:rPr lang="en-US" sz="2400" dirty="0">
                <a:latin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</a:rPr>
              <a:t>doit</a:t>
            </a:r>
            <a:r>
              <a:rPr lang="en-US" sz="2400" dirty="0">
                <a:latin typeface="Courier New" pitchFamily="49" charset="0"/>
              </a:rPr>
              <a:t>(</a:t>
            </a:r>
            <a:r>
              <a:rPr lang="en-US" sz="2400" dirty="0" err="1">
                <a:latin typeface="Courier New" pitchFamily="49" charset="0"/>
              </a:rPr>
              <a:t>int</a:t>
            </a:r>
            <a:r>
              <a:rPr lang="en-US" sz="2400" dirty="0">
                <a:latin typeface="Courier New" pitchFamily="49" charset="0"/>
              </a:rPr>
              <a:t> x[])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pitchFamily="49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Example 2: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 err="1">
                <a:latin typeface="Courier New" pitchFamily="49" charset="0"/>
              </a:rPr>
              <a:t>int</a:t>
            </a:r>
            <a:r>
              <a:rPr lang="en-US" sz="2400" dirty="0">
                <a:latin typeface="Courier New" pitchFamily="49" charset="0"/>
              </a:rPr>
              <a:t> main(void)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pitchFamily="49" charset="0"/>
              </a:rPr>
              <a:t>  </a:t>
            </a:r>
            <a:r>
              <a:rPr lang="en-US" sz="2400" dirty="0" err="1">
                <a:latin typeface="Courier New" pitchFamily="49" charset="0"/>
              </a:rPr>
              <a:t>int</a:t>
            </a:r>
            <a:r>
              <a:rPr lang="en-US" sz="2400" dirty="0">
                <a:latin typeface="Courier New" pitchFamily="49" charset="0"/>
              </a:rPr>
              <a:t> a[10];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pitchFamily="49" charset="0"/>
              </a:rPr>
              <a:t>  </a:t>
            </a:r>
            <a:r>
              <a:rPr lang="en-US" sz="2400" dirty="0" err="1">
                <a:latin typeface="Courier New" pitchFamily="49" charset="0"/>
              </a:rPr>
              <a:t>doit</a:t>
            </a:r>
            <a:r>
              <a:rPr lang="en-US" sz="2400" dirty="0">
                <a:latin typeface="Courier New" pitchFamily="49" charset="0"/>
              </a:rPr>
              <a:t>(&amp;</a:t>
            </a:r>
            <a:r>
              <a:rPr lang="en-US" sz="2400" dirty="0" smtClean="0">
                <a:latin typeface="Courier New" pitchFamily="49" charset="0"/>
              </a:rPr>
              <a:t>a[5]);</a:t>
            </a:r>
            <a:endParaRPr lang="en-US" sz="240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400" dirty="0">
                <a:latin typeface="Courier New" pitchFamily="49" charset="0"/>
              </a:rPr>
              <a:t>}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The initial value of x will be the same as &amp;a[5]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i.e., the address of the first element in x will be the same as the address of the </a:t>
            </a:r>
            <a:r>
              <a:rPr lang="en-US" sz="2000" b="1" dirty="0"/>
              <a:t>sixth</a:t>
            </a:r>
            <a:r>
              <a:rPr lang="en-US" sz="2000" dirty="0"/>
              <a:t> element in a (first element is a[0])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In practice, this means that x is now the second half of a.</a:t>
            </a:r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71207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Declaring Array Params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C has goofy rules for specifying the size of an array param.  First observe the following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NOTE1: array params do not actually create whole new arrays, they just let you set the parameter variable to be the address of an element in some other array (the argument)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NOTE2: C doesn’t care if you index beyond the end of an array (that’s your problem)</a:t>
            </a:r>
          </a:p>
          <a:p>
            <a:pPr>
              <a:lnSpc>
                <a:spcPct val="90000"/>
              </a:lnSpc>
            </a:pPr>
            <a:r>
              <a:rPr lang="en-US" sz="2400"/>
              <a:t>So, the compiler does not need to know how many elements there are in an “array” parameter.</a:t>
            </a:r>
          </a:p>
          <a:p>
            <a:pPr>
              <a:lnSpc>
                <a:spcPct val="90000"/>
              </a:lnSpc>
            </a:pPr>
            <a:r>
              <a:rPr lang="en-US" sz="2400"/>
              <a:t>If you specify a length for your array param, the compiler will ignore it!</a:t>
            </a:r>
          </a:p>
        </p:txBody>
      </p:sp>
    </p:spTree>
    <p:extLst>
      <p:ext uri="{BB962C8B-B14F-4D97-AF65-F5344CB8AC3E}">
        <p14:creationId xmlns:p14="http://schemas.microsoft.com/office/powerpoint/2010/main" val="4031091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 Parameter Examples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 New" pitchFamily="49" charset="0"/>
              </a:rPr>
              <a:t>void </a:t>
            </a:r>
            <a:r>
              <a:rPr lang="en-US" sz="2000" dirty="0" err="1">
                <a:latin typeface="Courier New" pitchFamily="49" charset="0"/>
              </a:rPr>
              <a:t>doit</a:t>
            </a:r>
            <a:r>
              <a:rPr lang="en-US" sz="2000" dirty="0">
                <a:latin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</a:rPr>
              <a:t> x[]) { // perfectly legal in C/C++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 New" pitchFamily="49" charset="0"/>
              </a:rPr>
              <a:t>  // but there’s NO WAY to know the length of x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 New" pitchFamily="49" charset="0"/>
              </a:rPr>
              <a:t>void </a:t>
            </a:r>
            <a:r>
              <a:rPr lang="en-US" sz="2000" dirty="0" err="1">
                <a:latin typeface="Courier New" pitchFamily="49" charset="0"/>
              </a:rPr>
              <a:t>doit</a:t>
            </a:r>
            <a:r>
              <a:rPr lang="en-US" sz="2000" dirty="0">
                <a:latin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</a:rPr>
              <a:t> x[10]) { // the 10 is ignored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 smtClean="0">
                <a:latin typeface="Courier New" pitchFamily="49" charset="0"/>
              </a:rPr>
              <a:t>  </a:t>
            </a:r>
            <a:r>
              <a:rPr lang="en-US" sz="2000" dirty="0" smtClean="0">
                <a:latin typeface="Courier New" pitchFamily="49" charset="0"/>
              </a:rPr>
              <a:t>// </a:t>
            </a:r>
            <a:r>
              <a:rPr lang="en-US" sz="2000" dirty="0">
                <a:latin typeface="Courier New" pitchFamily="49" charset="0"/>
              </a:rPr>
              <a:t>there’s STILL NO WAY to know the length of x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 New" pitchFamily="49" charset="0"/>
              </a:rPr>
              <a:t>void </a:t>
            </a:r>
            <a:r>
              <a:rPr lang="en-US" sz="2000" dirty="0" err="1">
                <a:latin typeface="Courier New" pitchFamily="49" charset="0"/>
              </a:rPr>
              <a:t>doit</a:t>
            </a:r>
            <a:r>
              <a:rPr lang="en-US" sz="2000" dirty="0">
                <a:latin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</a:rPr>
              <a:t> x) { // x is not an array,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 New" pitchFamily="49" charset="0"/>
              </a:rPr>
              <a:t>  // so a new local variable is created for x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 New" pitchFamily="49" charset="0"/>
              </a:rPr>
              <a:t>  // (i.e., no addresses used here)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09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Goofy things with arrays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The address of the first element of an array is (of course) fixed.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>
                <a:latin typeface="Courier New" pitchFamily="49" charset="0"/>
              </a:rPr>
              <a:t>int x[10];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>
                <a:latin typeface="Courier New" pitchFamily="49" charset="0"/>
              </a:rPr>
              <a:t>int y[20];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>
                <a:latin typeface="Courier New" pitchFamily="49" charset="0"/>
              </a:rPr>
              <a:t>x = y; // illegal!  You can’t make &amp;x[0] = &amp;y[0]</a:t>
            </a:r>
          </a:p>
          <a:p>
            <a:pPr>
              <a:lnSpc>
                <a:spcPct val="90000"/>
              </a:lnSpc>
            </a:pPr>
            <a:r>
              <a:rPr lang="en-US" sz="2400"/>
              <a:t>Parameters aren’t really arrays, so the array param can be reassigned a different address (YUCK!)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>
                <a:latin typeface="Courier New" pitchFamily="49" charset="0"/>
              </a:rPr>
              <a:t>void doit(char s[])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>
                <a:latin typeface="Courier New" pitchFamily="49" charset="0"/>
              </a:rPr>
              <a:t>  while (s[0] != 0)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>
                <a:latin typeface="Courier New" pitchFamily="49" charset="0"/>
              </a:rPr>
              <a:t>    printf(“%c”, s[0]);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>
                <a:latin typeface="Courier New" pitchFamily="49" charset="0"/>
              </a:rPr>
              <a:t>    s = &amp;s[1]; // legal, s is not really an array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>
                <a:latin typeface="Courier New" pitchFamily="49" charset="0"/>
              </a:rPr>
              <a:t>  }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>
                <a:latin typeface="Courier New" pitchFamily="49" charset="0"/>
              </a:rPr>
              <a:t>}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sz="200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925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Addresses and Pointers are typed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Pointers, pointer expressions and addresses are no exception to the “statically typed” rule of C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Every pointer must have a type</a:t>
            </a:r>
          </a:p>
          <a:p>
            <a:pPr marL="800100" lvl="1" indent="-342900"/>
            <a:r>
              <a:rPr lang="en-US" dirty="0" err="1" smtClean="0"/>
              <a:t>int</a:t>
            </a:r>
            <a:r>
              <a:rPr lang="en-US" dirty="0" smtClean="0"/>
              <a:t>* p;</a:t>
            </a:r>
          </a:p>
          <a:p>
            <a:pPr marL="800100" lvl="1" indent="-342900"/>
            <a:r>
              <a:rPr lang="en-US" dirty="0" smtClean="0"/>
              <a:t>float* q;</a:t>
            </a:r>
          </a:p>
          <a:p>
            <a:pPr marL="800100" lvl="1" indent="-342900"/>
            <a:r>
              <a:rPr lang="en-US" dirty="0" smtClean="0"/>
              <a:t>char** </a:t>
            </a:r>
            <a:r>
              <a:rPr lang="en-US" dirty="0" err="1" smtClean="0"/>
              <a:t>argv</a:t>
            </a:r>
            <a:r>
              <a:rPr lang="en-US" dirty="0" smtClean="0"/>
              <a:t>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All pointers are stored the same way</a:t>
            </a:r>
          </a:p>
          <a:p>
            <a:pPr marL="800100" lvl="1" indent="-342900"/>
            <a:r>
              <a:rPr lang="en-US" dirty="0" smtClean="0"/>
              <a:t>For EE312 we assume 32-bit unsigned (i.e., binary)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But… each type of pointer has its own rules for how operations on the pointer will be carried out</a:t>
            </a:r>
          </a:p>
          <a:p>
            <a:pPr marL="800100" lvl="1" indent="-342900"/>
            <a:endParaRPr lang="en-US" dirty="0" smtClean="0"/>
          </a:p>
          <a:p>
            <a:pPr marL="800100" lvl="1" indent="-3429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825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Initialization, assignment and computing the address are just like every other variable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Plus four fundamental operations (p and q are pointers, k is in n integer)</a:t>
            </a:r>
          </a:p>
          <a:p>
            <a:pPr marL="800100" lvl="1" indent="-342900"/>
            <a:r>
              <a:rPr lang="en-US" dirty="0" smtClean="0"/>
              <a:t>Dereference – *p</a:t>
            </a:r>
          </a:p>
          <a:p>
            <a:pPr marL="800100" lvl="1" indent="-342900"/>
            <a:r>
              <a:rPr lang="en-US" dirty="0" smtClean="0"/>
              <a:t>Equivalence – p == q</a:t>
            </a:r>
          </a:p>
          <a:p>
            <a:pPr marL="800100" lvl="1" indent="-342900"/>
            <a:r>
              <a:rPr lang="en-US" dirty="0" smtClean="0"/>
              <a:t>Difference – p - q</a:t>
            </a:r>
          </a:p>
          <a:p>
            <a:pPr marL="800100" lvl="1" indent="-342900"/>
            <a:r>
              <a:rPr lang="en-US" dirty="0" smtClean="0"/>
              <a:t>Addition with an integer – p + k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C++ distinguishes two other operations</a:t>
            </a:r>
          </a:p>
          <a:p>
            <a:pPr marL="800100" lvl="1" indent="-342900"/>
            <a:r>
              <a:rPr lang="en-US" dirty="0" smtClean="0"/>
              <a:t>Increment – ++p (same as “p + 1” for us)</a:t>
            </a:r>
          </a:p>
          <a:p>
            <a:pPr marL="800100" lvl="1" indent="-342900"/>
            <a:r>
              <a:rPr lang="en-US" dirty="0" smtClean="0"/>
              <a:t>Decrement – --p (same as “p – 1” for us)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The behavior (i.e., semantics) of these operations depends on the type of the pointer</a:t>
            </a:r>
          </a:p>
          <a:p>
            <a:pPr marL="800100" lvl="1" indent="-342900"/>
            <a:endParaRPr lang="en-US" dirty="0" smtClean="0"/>
          </a:p>
          <a:p>
            <a:pPr marL="800100" lvl="1" indent="-3429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805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Dereference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It’s easiest to think of dereference as two operations</a:t>
            </a:r>
          </a:p>
          <a:p>
            <a:pPr marL="800100" lvl="1" indent="-342900"/>
            <a:r>
              <a:rPr lang="en-US" dirty="0" smtClean="0"/>
              <a:t>*p as an </a:t>
            </a:r>
            <a:r>
              <a:rPr lang="en-US" dirty="0" err="1" smtClean="0"/>
              <a:t>rvalue</a:t>
            </a:r>
            <a:r>
              <a:rPr lang="en-US" dirty="0" smtClean="0"/>
              <a:t> – reads from memory</a:t>
            </a:r>
          </a:p>
          <a:p>
            <a:pPr marL="800100" lvl="1" indent="-342900"/>
            <a:r>
              <a:rPr lang="en-US" dirty="0" smtClean="0"/>
              <a:t>*p as an </a:t>
            </a:r>
            <a:r>
              <a:rPr lang="en-US" dirty="0" err="1" smtClean="0"/>
              <a:t>lvalue</a:t>
            </a:r>
            <a:r>
              <a:rPr lang="en-US" dirty="0" smtClean="0"/>
              <a:t> – writes to memory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The </a:t>
            </a:r>
            <a:r>
              <a:rPr lang="en-US" dirty="0" err="1" smtClean="0"/>
              <a:t>rvalue</a:t>
            </a:r>
            <a:r>
              <a:rPr lang="en-US" dirty="0" smtClean="0"/>
              <a:t> dereference uses the pointer type (type of p) to determine</a:t>
            </a:r>
          </a:p>
          <a:p>
            <a:pPr marL="800100" lvl="1" indent="-342900"/>
            <a:r>
              <a:rPr lang="en-US" dirty="0" smtClean="0"/>
              <a:t>How many bytes of memory to read, and how to decode the bits contained in that memory to produce a value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The </a:t>
            </a:r>
            <a:r>
              <a:rPr lang="en-US" dirty="0" err="1" smtClean="0"/>
              <a:t>lvalue</a:t>
            </a:r>
            <a:r>
              <a:rPr lang="en-US" dirty="0" smtClean="0"/>
              <a:t> dereference uses the pointer type to determine</a:t>
            </a:r>
          </a:p>
          <a:p>
            <a:pPr marL="800100" lvl="1" indent="-342900"/>
            <a:r>
              <a:rPr lang="en-US" dirty="0" smtClean="0"/>
              <a:t>How many bytes of memory to write, and how to encode the value before writing the bits to memory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8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Equivalence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</a:t>
            </a:r>
            <a:r>
              <a:rPr lang="en-US" dirty="0" smtClean="0"/>
              <a:t> == q Does the obvious thing</a:t>
            </a:r>
          </a:p>
          <a:p>
            <a:pPr marL="800100" lvl="1" indent="-342900"/>
            <a:r>
              <a:rPr lang="en-US" dirty="0"/>
              <a:t>E</a:t>
            </a:r>
            <a:r>
              <a:rPr lang="en-US" dirty="0" smtClean="0"/>
              <a:t>valuates true (1) if the two pointers have the same value</a:t>
            </a:r>
          </a:p>
          <a:p>
            <a:pPr marL="800100" lvl="1" indent="-342900"/>
            <a:r>
              <a:rPr lang="en-US" dirty="0" smtClean="0"/>
              <a:t>Evaluates to false (0) if the two pointers have different value</a:t>
            </a:r>
          </a:p>
          <a:p>
            <a:pPr marL="342900" indent="-342900"/>
            <a:endParaRPr lang="en-US" dirty="0" smtClean="0"/>
          </a:p>
          <a:p>
            <a:r>
              <a:rPr lang="en-US" dirty="0" smtClean="0"/>
              <a:t>Since the “value” of a pointer is the address of some other variable, the conceptual meaning of pointer equivalence is:</a:t>
            </a:r>
            <a:endParaRPr lang="en-US" dirty="0"/>
          </a:p>
          <a:p>
            <a:pPr marL="342900" indent="-342900"/>
            <a:r>
              <a:rPr lang="en-US" dirty="0" smtClean="0"/>
              <a:t>	“p and q point to the same location”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616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Pointer Difference and Addition with an integer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Pointer arithmetic is defined with respect to arrays</a:t>
            </a:r>
          </a:p>
          <a:p>
            <a:pPr marL="800100" lvl="1" indent="-342900"/>
            <a:r>
              <a:rPr lang="en-US" dirty="0" smtClean="0"/>
              <a:t>p + k calculates the address of the array element k positions after p</a:t>
            </a:r>
          </a:p>
          <a:p>
            <a:pPr marL="800100" lvl="1" indent="-342900"/>
            <a:r>
              <a:rPr lang="en-US" dirty="0" smtClean="0"/>
              <a:t>p – q calculates the size of the array that begins at address q and ends at address p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Some examples:</a:t>
            </a:r>
          </a:p>
          <a:p>
            <a:pPr lvl="1" indent="0">
              <a:buNone/>
            </a:pPr>
            <a:r>
              <a:rPr lang="en-US" dirty="0" err="1"/>
              <a:t>i</a:t>
            </a:r>
            <a:r>
              <a:rPr lang="en-US" dirty="0" err="1" smtClean="0"/>
              <a:t>nt</a:t>
            </a:r>
            <a:r>
              <a:rPr lang="en-US" dirty="0" smtClean="0"/>
              <a:t> x[10];</a:t>
            </a:r>
          </a:p>
          <a:p>
            <a:pPr lvl="1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* p = &amp;x[0];</a:t>
            </a:r>
          </a:p>
          <a:p>
            <a:pPr lvl="1" indent="0">
              <a:buNone/>
            </a:pPr>
            <a:r>
              <a:rPr lang="en-US" dirty="0" smtClean="0"/>
              <a:t>p + 5 // same as &amp;x[5]</a:t>
            </a:r>
          </a:p>
          <a:p>
            <a:pPr lvl="1" indent="0">
              <a:buNone/>
            </a:pPr>
            <a:r>
              <a:rPr lang="en-US" dirty="0" smtClean="0"/>
              <a:t>p + 10 // the end of the array x (out of bounds)</a:t>
            </a:r>
          </a:p>
          <a:p>
            <a:pPr lvl="1" indent="0">
              <a:buNone/>
            </a:pPr>
            <a:r>
              <a:rPr lang="en-US" dirty="0" smtClean="0"/>
              <a:t>p + 10 – p // 10, i.e., the number of elements in x</a:t>
            </a:r>
          </a:p>
        </p:txBody>
      </p:sp>
    </p:spTree>
    <p:extLst>
      <p:ext uri="{BB962C8B-B14F-4D97-AF65-F5344CB8AC3E}">
        <p14:creationId xmlns:p14="http://schemas.microsoft.com/office/powerpoint/2010/main" val="3917246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Pointer Arithmetic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Most C programmers internalize the pointer arithmetic rules as “scale by the size of object”</a:t>
            </a:r>
          </a:p>
          <a:p>
            <a:pPr marL="800100" lvl="1" indent="-342900"/>
            <a:r>
              <a:rPr lang="en-US" dirty="0" smtClean="0"/>
              <a:t>If p is </a:t>
            </a:r>
            <a:r>
              <a:rPr lang="en-US" dirty="0" err="1" smtClean="0"/>
              <a:t>int</a:t>
            </a:r>
            <a:r>
              <a:rPr lang="en-US" dirty="0" smtClean="0"/>
              <a:t>* then any arithmetic is scaled by 4 (size of an </a:t>
            </a:r>
            <a:r>
              <a:rPr lang="en-US" dirty="0" err="1" smtClean="0"/>
              <a:t>int</a:t>
            </a:r>
            <a:r>
              <a:rPr lang="en-US" dirty="0" smtClean="0"/>
              <a:t>)</a:t>
            </a:r>
          </a:p>
          <a:p>
            <a:pPr marL="800100" lvl="1" indent="-342900"/>
            <a:r>
              <a:rPr lang="en-US" dirty="0" smtClean="0"/>
              <a:t>If p is char* then any arithmetic is scaled by 1 (not changed)</a:t>
            </a:r>
          </a:p>
          <a:p>
            <a:pPr marL="800100" lvl="1" indent="-342900"/>
            <a:r>
              <a:rPr lang="en-US" dirty="0" smtClean="0"/>
              <a:t>If p is double* then any arithmetic is scaled by 8 (size of double)</a:t>
            </a:r>
          </a:p>
          <a:p>
            <a:pPr marL="800100" lvl="1" indent="-342900"/>
            <a:r>
              <a:rPr lang="en-US" dirty="0" smtClean="0"/>
              <a:t>If p is char** then any arithmetic is scaled by 4 (size of char*)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Please remember the following array equivalences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The name of the array is an expression that evaluates to the address of the first element – x == &amp;x[0]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An array index expression is syntactic sugar for </a:t>
            </a:r>
            <a:r>
              <a:rPr lang="en-US" smtClean="0"/>
              <a:t>pointer arithmetic – x[k] == *(x + k)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74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Use Case 1: Aliasing one of two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To keep our code clean, sometimes we’ll want to separate the code that selects an object from the code that modifies that object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Using a pointer makes this easy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360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 2: Output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RECALL(!) parameters are local variables – they are </a:t>
            </a:r>
            <a:r>
              <a:rPr lang="en-US" u="sng" dirty="0" smtClean="0"/>
              <a:t>copies</a:t>
            </a:r>
            <a:r>
              <a:rPr lang="en-US" dirty="0" smtClean="0"/>
              <a:t> of the original value. Changing a parameter has NO EFFECT on the original argument.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If we want to write a function that modifies its argument(s), we need to use pointers. My favorite example is swap.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void swap(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* x,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* y) {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t = *x;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*x = *y;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*y = t;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main(void) {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a = 5;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b = 10;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swap(&amp;a, &amp;b); // sets b to 5 and a to 10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7542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Use Case 3: Variables that don’t have names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It is often the case that a program will need to manipulate data and yet that same program cannot predict how much data it will process.</a:t>
            </a:r>
          </a:p>
          <a:p>
            <a:pPr marL="800100" lvl="1" indent="-342900"/>
            <a:r>
              <a:rPr lang="en-US" dirty="0" smtClean="0"/>
              <a:t>A web browser receives commands to load a web site. Until it connects to the web server, the program can’t know how much information it will download.</a:t>
            </a:r>
          </a:p>
          <a:p>
            <a:pPr marL="800100" lvl="1" indent="-342900"/>
            <a:r>
              <a:rPr lang="en-US" dirty="0" smtClean="0"/>
              <a:t>A word processing program opens a file and loads the contents. Until it opens the file, the program can’t know how large the document is.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To write such programs we must recognize that the variables we use to store our data may not be created until after the program begins running</a:t>
            </a:r>
          </a:p>
          <a:p>
            <a:pPr marL="800100" lvl="1" indent="-342900"/>
            <a:r>
              <a:rPr lang="en-US" dirty="0" smtClean="0"/>
              <a:t>i.e., “dynamically allocated” variables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These variables will not have names (they will have types, addresses and values just like any other variable!)</a:t>
            </a:r>
          </a:p>
          <a:p>
            <a:pPr marL="800100" lvl="1" indent="-342900"/>
            <a:r>
              <a:rPr lang="en-US" dirty="0"/>
              <a:t>W</a:t>
            </a:r>
            <a:r>
              <a:rPr lang="en-US" dirty="0" smtClean="0"/>
              <a:t>e’ll only be able to access them using pointers</a:t>
            </a:r>
          </a:p>
        </p:txBody>
      </p:sp>
    </p:spTree>
    <p:extLst>
      <p:ext uri="{BB962C8B-B14F-4D97-AF65-F5344CB8AC3E}">
        <p14:creationId xmlns:p14="http://schemas.microsoft.com/office/powerpoint/2010/main" val="616635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Use Case #4: Performance Tweaks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I’m not a big fan of this use case (even though I’m a hardcore performance enthusiast).</a:t>
            </a:r>
          </a:p>
          <a:p>
            <a:pPr marL="800100" lvl="1" indent="-342900"/>
            <a:r>
              <a:rPr lang="en-US" dirty="0" smtClean="0"/>
              <a:t>Usually, the compiler can tweak your code adequately without you changing the way you write it. That’s especially true with array-to-pointer conversion!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However, there is one important exception for C programs.</a:t>
            </a:r>
          </a:p>
          <a:p>
            <a:pPr marL="800100" lvl="1" indent="-342900"/>
            <a:r>
              <a:rPr lang="en-US" dirty="0" smtClean="0"/>
              <a:t>Functions with large </a:t>
            </a:r>
            <a:r>
              <a:rPr lang="en-US" dirty="0" err="1" smtClean="0"/>
              <a:t>structs</a:t>
            </a:r>
            <a:r>
              <a:rPr lang="en-US" dirty="0" smtClean="0"/>
              <a:t> as parameters are usually written with pointers.</a:t>
            </a:r>
          </a:p>
          <a:p>
            <a:pPr marL="800100" lvl="1" indent="-342900"/>
            <a:r>
              <a:rPr lang="en-US" dirty="0" smtClean="0"/>
              <a:t>It much faster to create a 4-byte pointer parameter than to create a 100-byte </a:t>
            </a:r>
            <a:r>
              <a:rPr lang="en-US" dirty="0" err="1" smtClean="0"/>
              <a:t>struct</a:t>
            </a:r>
            <a:r>
              <a:rPr lang="en-US" dirty="0" smtClean="0"/>
              <a:t> parameter.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We’ll be doing a lot of work with </a:t>
            </a:r>
            <a:r>
              <a:rPr lang="en-US" dirty="0" err="1" smtClean="0"/>
              <a:t>structs</a:t>
            </a:r>
            <a:r>
              <a:rPr lang="en-US" dirty="0" smtClean="0"/>
              <a:t> and classes later, and will have a chance to illustrate this use class clearly at that time.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629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Arrays Parameters and Pointers (advice)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Array parameters are really pointers in C</a:t>
            </a:r>
          </a:p>
          <a:p>
            <a:r>
              <a:rPr lang="en-US" dirty="0"/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doit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x[100]) { …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doit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 x) { … }</a:t>
            </a:r>
          </a:p>
          <a:p>
            <a:r>
              <a:rPr lang="en-US" dirty="0" smtClean="0">
                <a:cs typeface="Courier New" panose="02070309020205020404" pitchFamily="49" charset="0"/>
              </a:rPr>
              <a:t>Both function declarations are the same, with the same rules for what you can do with the parameter x, all of the following are legal (with either function)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x[0] = 42;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 = x + 1;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*x = 10;</a:t>
            </a:r>
          </a:p>
          <a:p>
            <a:r>
              <a:rPr lang="en-US" dirty="0" smtClean="0">
                <a:cs typeface="Courier New" panose="02070309020205020404" pitchFamily="49" charset="0"/>
              </a:rPr>
              <a:t>So, which syntax should you use?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cs typeface="Courier New" panose="02070309020205020404" pitchFamily="49" charset="0"/>
              </a:rPr>
              <a:t>Prefer array syntax if the parameter points at an array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cs typeface="Courier New" panose="02070309020205020404" pitchFamily="49" charset="0"/>
              </a:rPr>
              <a:t>Prefer pointer syntax if the parameter points at a single variable (one that is not part of an array)</a:t>
            </a:r>
            <a:endParaRPr lang="en-US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3312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5140</TotalTime>
  <Words>1848</Words>
  <Application>Microsoft Office PowerPoint</Application>
  <PresentationFormat>On-screen Show (4:3)</PresentationFormat>
  <Paragraphs>211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Courier New</vt:lpstr>
      <vt:lpstr>Lucida Sans Unicode</vt:lpstr>
      <vt:lpstr>Times New Roman</vt:lpstr>
      <vt:lpstr>Verdana</vt:lpstr>
      <vt:lpstr>Wingdings 2</vt:lpstr>
      <vt:lpstr>Wingdings 3</vt:lpstr>
      <vt:lpstr>Concourse</vt:lpstr>
      <vt:lpstr>Arrays and Pointers</vt:lpstr>
      <vt:lpstr>Objectives</vt:lpstr>
      <vt:lpstr>Memory</vt:lpstr>
      <vt:lpstr>Variables</vt:lpstr>
      <vt:lpstr>Addresses in C</vt:lpstr>
      <vt:lpstr>Arrays and Addresses</vt:lpstr>
      <vt:lpstr>Indexing and overflow</vt:lpstr>
      <vt:lpstr>Overflow example</vt:lpstr>
      <vt:lpstr>Arrays, Addresses and Paramters</vt:lpstr>
      <vt:lpstr>Examples of array params</vt:lpstr>
      <vt:lpstr>Another example</vt:lpstr>
      <vt:lpstr>Declaring Array Params</vt:lpstr>
      <vt:lpstr>Array Parameter Examples</vt:lpstr>
      <vt:lpstr>Goofy things with arrays</vt:lpstr>
      <vt:lpstr>Addresses and Pointers are typed</vt:lpstr>
      <vt:lpstr>Pointer Operations</vt:lpstr>
      <vt:lpstr>Pointer Dereference</vt:lpstr>
      <vt:lpstr>Pointer Equivalence</vt:lpstr>
      <vt:lpstr>Pointer Difference and Addition with an integer</vt:lpstr>
      <vt:lpstr>More Pointer Arithmetic</vt:lpstr>
      <vt:lpstr>Use Case 1: Aliasing one of two variables</vt:lpstr>
      <vt:lpstr>Use Case 2: Output Parameters</vt:lpstr>
      <vt:lpstr>Use Case 3: Variables that don’t have names</vt:lpstr>
      <vt:lpstr>Use Case #4: Performance Tweaks</vt:lpstr>
      <vt:lpstr>Arrays Parameters and Pointers (advice)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Chase</dc:creator>
  <cp:lastModifiedBy>Craig Chase</cp:lastModifiedBy>
  <cp:revision>49</cp:revision>
  <dcterms:created xsi:type="dcterms:W3CDTF">1601-01-01T00:00:00Z</dcterms:created>
  <dcterms:modified xsi:type="dcterms:W3CDTF">2014-09-02T16:33:01Z</dcterms:modified>
</cp:coreProperties>
</file>